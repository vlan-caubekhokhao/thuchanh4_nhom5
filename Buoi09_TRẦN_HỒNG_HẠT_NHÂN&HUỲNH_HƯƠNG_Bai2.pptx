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5" r:id="rId13"/>
    <p:sldId id="283" r:id="rId14"/>
    <p:sldId id="284" r:id="rId15"/>
    <p:sldId id="28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1196975"/>
            <a:ext cx="10943167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2422525"/>
            <a:ext cx="10949517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0085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b="1">
                <a:latin typeface="Times New Roman" panose="02020603050405020304" charset="0"/>
                <a:cs typeface="Times New Roman" panose="02020603050405020304" charset="0"/>
              </a:defRPr>
            </a:lvl1pPr>
          </a:lstStyle>
          <a:p>
            <a:r>
              <a:rPr lang="en-US"/>
              <a:t>GIỚI THIỆU ĐẠI HỌC CẦN THƠ</a:t>
            </a:r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r>
              <a:rPr lang="en-US"/>
              <a:t>1</a:t>
            </a: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68475"/>
            <a:ext cx="10972800" cy="4953000"/>
          </a:xfrm>
        </p:spPr>
        <p:txBody>
          <a:bodyPr/>
          <a:lstStyle>
            <a:lvl3pPr marL="914400" indent="0">
              <a:buFont typeface="Times New Roman" panose="02020603050405020304" charset="0"/>
              <a:buChar char="+"/>
              <a:defRPr/>
            </a:lvl3pPr>
            <a:lvl4pPr marL="1714500" indent="-342900">
              <a:buFont typeface="Wingdings" panose="05000000000000000000" charset="0"/>
              <a:buChar char="§"/>
              <a:defRPr/>
            </a:lvl4pPr>
            <a:lvl5pPr marL="1828800" indent="0">
              <a:buFont typeface="Wingdings" panose="05000000000000000000" charset="0"/>
              <a:buChar char="ü"/>
              <a:defRPr/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marL="1371600" lvl="3" indent="457200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 userDrawn="1"/>
        </p:nvSpPr>
        <p:spPr bwMode="auto">
          <a:xfrm>
            <a:off x="8864600" y="6372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0085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b="1">
                <a:latin typeface="Times New Roman" panose="02020603050405020304" charset="0"/>
                <a:cs typeface="Times New Roman" panose="02020603050405020304" charset="0"/>
              </a:defRPr>
            </a:lvl1pPr>
          </a:lstStyle>
          <a:p>
            <a:r>
              <a:rPr lang="en-US"/>
              <a:t>GIỚI THIỆU ĐẠI HỌC CẦN THƠ</a:t>
            </a:r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43805" y="6245225"/>
            <a:ext cx="2844800" cy="476250"/>
          </a:xfrm>
          <a:prstGeom prst="rect">
            <a:avLst/>
          </a:prstGeom>
        </p:spPr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43805" y="6245225"/>
            <a:ext cx="2844800" cy="476250"/>
          </a:xfrm>
          <a:prstGeom prst="rect">
            <a:avLst/>
          </a:prstGeom>
        </p:spPr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043805" y="6245225"/>
            <a:ext cx="2844800" cy="476250"/>
          </a:xfrm>
          <a:prstGeom prst="rect">
            <a:avLst/>
          </a:prstGeom>
        </p:spPr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5043805" y="6245225"/>
            <a:ext cx="2844800" cy="476250"/>
          </a:xfrm>
          <a:prstGeom prst="rect">
            <a:avLst/>
          </a:prstGeom>
        </p:spPr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43805" y="6245225"/>
            <a:ext cx="2844800" cy="476250"/>
          </a:xfrm>
          <a:prstGeom prst="rect">
            <a:avLst/>
          </a:prstGeom>
        </p:spPr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043805" y="6245225"/>
            <a:ext cx="2844800" cy="476250"/>
          </a:xfrm>
          <a:prstGeom prst="rect">
            <a:avLst/>
          </a:prstGeom>
        </p:spPr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043805" y="6245225"/>
            <a:ext cx="2844800" cy="476250"/>
          </a:xfrm>
          <a:prstGeom prst="rect">
            <a:avLst/>
          </a:prstGeom>
        </p:spPr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043805" y="6245225"/>
            <a:ext cx="2844800" cy="476250"/>
          </a:xfrm>
          <a:prstGeom prst="rect">
            <a:avLst/>
          </a:prstGeom>
        </p:spPr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43805" y="6245225"/>
            <a:ext cx="2844800" cy="476250"/>
          </a:xfrm>
          <a:prstGeom prst="rect">
            <a:avLst/>
          </a:prstGeom>
        </p:spPr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43805" y="6245225"/>
            <a:ext cx="2844800" cy="476250"/>
          </a:xfrm>
          <a:prstGeom prst="rect">
            <a:avLst/>
          </a:prstGeom>
        </p:spPr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2</a:t>
            </a:r>
            <a:endParaRPr lang="en-US" smtClean="0"/>
          </a:p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3.png"/><Relationship Id="rId14" Type="http://schemas.openxmlformats.org/officeDocument/2006/relationships/image" Target="../media/image2.jpe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17145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 Fourth level</a:t>
            </a:r>
            <a:endParaRPr lang="en-US" altLang="zh-CN" dirty="0"/>
          </a:p>
          <a:p>
            <a:pPr lvl="4"/>
            <a:r>
              <a:rPr lang="en-US" altLang="zh-CN" dirty="0"/>
              <a:t> Fifth level</a:t>
            </a:r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0085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b="1">
                <a:latin typeface="Times New Roman" panose="02020603050405020304" charset="0"/>
                <a:cs typeface="Times New Roman" panose="02020603050405020304" charset="0"/>
              </a:defRPr>
            </a:lvl1pPr>
          </a:lstStyle>
          <a:p>
            <a:r>
              <a:rPr lang="en-US"/>
              <a:t>GIỚI THIỆU ĐẠI HỌC CẦN THƠ</a:t>
            </a:r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pic>
        <p:nvPicPr>
          <p:cNvPr id="2" name="Picture 1" descr="LOGO ĐẠI HỌC CẦN THƠ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572115" y="379730"/>
            <a:ext cx="1487170" cy="148780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Times New Roman" panose="02020603050405020304" charset="0"/>
          <a:ea typeface="+mj-ea"/>
          <a:cs typeface="Times New Roman" panose="02020603050405020304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b="1" kern="1200">
          <a:solidFill>
            <a:schemeClr val="tx1"/>
          </a:solidFill>
          <a:latin typeface="Times New Roman" panose="02020603050405020304" charset="0"/>
          <a:ea typeface="+mn-ea"/>
          <a:cs typeface="Times New Roman" panose="02020603050405020304" charset="0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Times New Roman" panose="02020603050405020304" charset="0"/>
          <a:ea typeface="+mn-ea"/>
          <a:cs typeface="Times New Roman" panose="02020603050405020304" charset="0"/>
        </a:defRPr>
      </a:lvl2pPr>
      <a:lvl3pPr marL="1257300" indent="-342900" algn="l" rtl="0" fontAlgn="base">
        <a:spcBef>
          <a:spcPct val="20000"/>
        </a:spcBef>
        <a:spcAft>
          <a:spcPct val="0"/>
        </a:spcAft>
        <a:buFont typeface="Times New Roman" panose="02020603050405020304" charset="0"/>
        <a:buChar char="+"/>
        <a:defRPr sz="2400" kern="1200">
          <a:solidFill>
            <a:schemeClr val="tx1"/>
          </a:solidFill>
          <a:latin typeface="Times New Roman" panose="02020603050405020304" charset="0"/>
          <a:ea typeface="+mn-ea"/>
          <a:cs typeface="Times New Roman" panose="02020603050405020304" charset="0"/>
        </a:defRPr>
      </a:lvl3pPr>
      <a:lvl4pPr marL="1371600" indent="0" algn="l" rtl="0" fontAlgn="base">
        <a:spcBef>
          <a:spcPct val="20000"/>
        </a:spcBef>
        <a:spcAft>
          <a:spcPct val="0"/>
        </a:spcAft>
        <a:buFont typeface="Wingdings" panose="05000000000000000000" charset="0"/>
        <a:buChar char="§"/>
        <a:defRPr sz="2200" kern="1200">
          <a:solidFill>
            <a:schemeClr val="tx1"/>
          </a:solidFill>
          <a:latin typeface="Times New Roman" panose="02020603050405020304" charset="0"/>
          <a:ea typeface="+mn-ea"/>
          <a:cs typeface="Times New Roman" panose="02020603050405020304" charset="0"/>
        </a:defRPr>
      </a:lvl4pPr>
      <a:lvl5pPr marL="1828800" indent="0" algn="l" rtl="0" fontAlgn="base">
        <a:spcBef>
          <a:spcPct val="20000"/>
        </a:spcBef>
        <a:spcAft>
          <a:spcPct val="0"/>
        </a:spcAft>
        <a:buFont typeface="Wingdings" panose="05000000000000000000" charset="0"/>
        <a:buChar char="ü"/>
        <a:defRPr sz="2000" kern="1200">
          <a:solidFill>
            <a:schemeClr val="tx1"/>
          </a:solidFill>
          <a:latin typeface="Times New Roman" panose="02020603050405020304" charset="0"/>
          <a:ea typeface="+mn-ea"/>
          <a:cs typeface="Times New Roman" panose="0202060305040502030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://www.cit.ctu.edu.vn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34795" y="2422525"/>
            <a:ext cx="9122410" cy="1752600"/>
          </a:xfrm>
        </p:spPr>
        <p:txBody>
          <a:bodyPr/>
          <a:lstStyle/>
          <a:p>
            <a:r>
              <a:rPr lang="en-US" dirty="0">
                <a:sym typeface="+mn-ea"/>
              </a:rPr>
              <a:t>ĐẠI HỌC CẦN THƠ – QUÁ TRÌNH THÀNH VÀ PHÁT TRIỂN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  <p:pic>
        <p:nvPicPr>
          <p:cNvPr id="6" name="Picture 5" descr="LOGO ĐẠI HỌC CẦN THƠ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3690" y="467995"/>
            <a:ext cx="1508760" cy="15093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NỘI DUNG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THỜI KỲ VIỆN ĐẠI HỌC CẦN THƠ ( 1966 - 1975)</a:t>
            </a:r>
            <a:endParaRPr lang="en-US"/>
          </a:p>
          <a:p>
            <a:r>
              <a:rPr lang="en-US"/>
              <a:t>ĐHCT GIAI ĐOẠN SAU NĂM 1975</a:t>
            </a: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0085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b="1">
                <a:latin typeface="Times New Roman" panose="02020603050405020304" charset="0"/>
                <a:cs typeface="Times New Roman" panose="02020603050405020304" charset="0"/>
              </a:defRPr>
            </a:lvl1pPr>
          </a:lstStyle>
          <a:p>
            <a:r>
              <a:rPr lang="en-US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THỜI KỲ VIỆN ĐẠI HỌC CẦN THƠ (1966 - 1975)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ĐƯỢC THÀNH LẬP NGÀY 31 THÁNG 03 NĂM 1966</a:t>
            </a:r>
            <a:endParaRPr lang="en-US"/>
          </a:p>
          <a:p>
            <a:r>
              <a:rPr lang="en-US"/>
              <a:t>VIỆN ĐẠI HỌC CẦN THƠ CÓ BỐN KHOA:</a:t>
            </a:r>
            <a:endParaRPr lang="en-US"/>
          </a:p>
          <a:p>
            <a:pPr lvl="1"/>
            <a:r>
              <a:rPr lang="en-US"/>
              <a:t>KHOA HỌC </a:t>
            </a:r>
            <a:endParaRPr lang="en-US"/>
          </a:p>
          <a:p>
            <a:pPr lvl="1"/>
            <a:r>
              <a:rPr lang="en-US"/>
              <a:t>LUẬT KHOA</a:t>
            </a:r>
            <a:endParaRPr lang="en-US"/>
          </a:p>
          <a:p>
            <a:pPr lvl="1"/>
            <a:r>
              <a:rPr lang="en-US"/>
              <a:t>KHOA HỌC XÃ HỘI, VĂN HOÁ, SƯ PHẠM</a:t>
            </a:r>
            <a:endParaRPr lang="en-US"/>
          </a:p>
          <a:p>
            <a:pPr lvl="1"/>
            <a:r>
              <a:rPr lang="en-US"/>
              <a:t>CAO ĐẲNG NÔNG NGHIỆP VÀ TRUNG TÂM SINH NGỮ</a:t>
            </a:r>
            <a:endParaRPr lang="en-US"/>
          </a:p>
          <a:p>
            <a:pPr lvl="2"/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0085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b="1">
                <a:latin typeface="Times New Roman" panose="02020603050405020304" charset="0"/>
                <a:cs typeface="Times New Roman" panose="02020603050405020304" charset="0"/>
              </a:defRPr>
            </a:lvl1pPr>
          </a:lstStyle>
          <a:p>
            <a:r>
              <a:rPr lang="en-US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THỜI KỲ VIỆN ĐẠI HỌC CẦN THƠ (1966 - 1975)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CƠ SỞ VẬT CHẤT CỦA VIỆN ĐẠI HỌC CẦN THƠ TOẠ LẠC TRÊN 4 ĐỊA ĐIỂM</a:t>
            </a:r>
            <a:endParaRPr lang="en-US"/>
          </a:p>
          <a:p>
            <a:pPr lvl="1"/>
            <a:r>
              <a:rPr lang="en-US"/>
              <a:t>TOÀ VIỆN TRƯỞNG (SỐ 5, ĐẠI LỘ HOÀ BÌNH)</a:t>
            </a:r>
            <a:endParaRPr lang="en-US"/>
          </a:p>
          <a:p>
            <a:pPr lvl="1"/>
            <a:r>
              <a:rPr lang="en-US"/>
              <a:t>KHU I (ĐƯỜNG 30/4)</a:t>
            </a:r>
            <a:endParaRPr lang="en-US"/>
          </a:p>
          <a:p>
            <a:pPr lvl="1"/>
            <a:r>
              <a:rPr lang="en-US"/>
              <a:t>KHU II: (ĐƯỜNG 3/2)</a:t>
            </a:r>
            <a:endParaRPr lang="en-US"/>
          </a:p>
          <a:p>
            <a:pPr lvl="1"/>
            <a:r>
              <a:rPr lang="en-US"/>
              <a:t>KHU III : (SỐ 1, LÝ TỰ TRỌNG)</a:t>
            </a:r>
            <a:endParaRPr lang="en-US"/>
          </a:p>
          <a:p>
            <a:pPr lvl="1"/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0085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b="1">
                <a:latin typeface="Times New Roman" panose="02020603050405020304" charset="0"/>
                <a:cs typeface="Times New Roman" panose="02020603050405020304" charset="0"/>
              </a:defRPr>
            </a:lvl1pPr>
          </a:lstStyle>
          <a:p>
            <a:r>
              <a:rPr lang="en-US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ĐHCT GIAI ĐOẠN SAU NĂM 1975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VIỆN ĐẠI HỌC CẦN THƠ ĐƯỢC ĐỔI THÀNH ĐHCT</a:t>
            </a:r>
            <a:endParaRPr lang="en-US"/>
          </a:p>
          <a:p>
            <a:r>
              <a:rPr lang="en-US"/>
              <a:t>CƠ CẤU ĐHCT HIỆN NAY</a:t>
            </a:r>
            <a:endParaRPr lang="en-US"/>
          </a:p>
          <a:p>
            <a:pPr lvl="1"/>
            <a:r>
              <a:rPr lang="en-US"/>
              <a:t>KHIOA - VIỆN</a:t>
            </a:r>
            <a:endParaRPr lang="en-US"/>
          </a:p>
          <a:p>
            <a:pPr lvl="1"/>
            <a:r>
              <a:rPr lang="en-US"/>
              <a:t>TRUNG TÂM - TRUNG TÂM ĐẠO TẠO</a:t>
            </a:r>
            <a:endParaRPr lang="en-US"/>
          </a:p>
          <a:p>
            <a:pPr lvl="1"/>
            <a:r>
              <a:rPr lang="en-US"/>
              <a:t>PHÒNG BAN CHỨC NĂNG</a:t>
            </a:r>
            <a:endParaRPr lang="en-US"/>
          </a:p>
          <a:p>
            <a:pPr lvl="1"/>
            <a:r>
              <a:rPr lang="en-US"/>
              <a:t>ĐOÀN THỂ &amp; HỘI</a:t>
            </a: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0085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b="1">
                <a:latin typeface="Times New Roman" panose="02020603050405020304" charset="0"/>
                <a:cs typeface="Times New Roman" panose="02020603050405020304" charset="0"/>
              </a:defRPr>
            </a:lvl1pPr>
          </a:lstStyle>
          <a:p>
            <a:r>
              <a:rPr lang="en-US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ĐHCT GIAI ĐOẠN SAU NĂM 1975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>
                <a:solidFill>
                  <a:srgbClr val="FF0000"/>
                </a:solidFill>
              </a:rPr>
              <a:t>KHOA HỌC TỰ NHIÊN</a:t>
            </a:r>
            <a:endParaRPr lang="en-US">
              <a:solidFill>
                <a:srgbClr val="FF0000"/>
              </a:solidFill>
            </a:endParaRPr>
          </a:p>
          <a:p>
            <a:pPr lvl="1"/>
            <a:r>
              <a:rPr lang="en-US"/>
              <a:t>NGÀY 14/1/1998, TRƯỜNG ĐHCT KHÁNH THÀNH KHOA KHOA HỌC</a:t>
            </a:r>
            <a:endParaRPr lang="en-US"/>
          </a:p>
          <a:p>
            <a:pPr lvl="1"/>
            <a:r>
              <a:rPr lang="en-US"/>
              <a:t>CƠ SỞ VẬT CHẤT</a:t>
            </a:r>
            <a:endParaRPr lang="en-US"/>
          </a:p>
          <a:p>
            <a:pPr lvl="2"/>
            <a:r>
              <a:rPr lang="en-US" sz="2400"/>
              <a:t>12 PHÒNG THÍ NGHIỆM (PTN) CHO SINH, HOÁ, VẬT LÝ</a:t>
            </a:r>
            <a:endParaRPr lang="en-US" sz="2400"/>
          </a:p>
          <a:p>
            <a:pPr lvl="2"/>
            <a:r>
              <a:rPr lang="en-US" sz="2400"/>
              <a:t>06 PHÒNG MÁY TÍNH ĐƯỢC NỐI MẠNG VỚI NHAU</a:t>
            </a:r>
            <a:endParaRPr lang="en-US"/>
          </a:p>
          <a:p>
            <a:pPr lvl="2"/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0085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b="1">
                <a:latin typeface="Times New Roman" panose="02020603050405020304" charset="0"/>
                <a:cs typeface="Times New Roman" panose="02020603050405020304" charset="0"/>
              </a:defRPr>
            </a:lvl1pPr>
          </a:lstStyle>
          <a:p>
            <a:r>
              <a:rPr lang="en-US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ĐHCT GIAI ĐOẠN SAU 1975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4750"/>
            <a:ext cx="10046335" cy="4953000"/>
          </a:xfrm>
        </p:spPr>
        <p:txBody>
          <a:bodyPr/>
          <a:p>
            <a:r>
              <a:rPr lang="en-US">
                <a:solidFill>
                  <a:srgbClr val="FF0000"/>
                </a:solidFill>
              </a:rPr>
              <a:t>KHOA KHOA HỌC TỰ NHIÊN</a:t>
            </a:r>
            <a:endParaRPr lang="en-US">
              <a:solidFill>
                <a:srgbClr val="FF0000"/>
              </a:solidFill>
            </a:endParaRPr>
          </a:p>
          <a:p>
            <a:pPr lvl="1"/>
            <a:r>
              <a:rPr lang="en-US"/>
              <a:t>CƠ SỞ VẬT CHẮT</a:t>
            </a:r>
            <a:endParaRPr lang="en-US"/>
          </a:p>
          <a:p>
            <a:pPr lvl="2"/>
            <a:r>
              <a:rPr lang="en-US"/>
              <a:t>VP KHOA VÀ XƯỞNG SỬA CHỮA</a:t>
            </a:r>
            <a:endParaRPr lang="en-US"/>
          </a:p>
          <a:p>
            <a:pPr lvl="2"/>
            <a:r>
              <a:rPr lang="en-US"/>
              <a:t>NĂM 2010, TRƯỜNG ĐÃ ĐẦU TƯ MỞ RỘNG KHU PTN CỦA KHOA</a:t>
            </a:r>
            <a:endParaRPr lang="en-US"/>
          </a:p>
          <a:p>
            <a:pPr lvl="2"/>
            <a:r>
              <a:rPr lang="en-US"/>
              <a:t>XÂY MỚI KHU NHÀ 3 TẦNG VỚI 22 PHÒNG</a:t>
            </a: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0085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b="1">
                <a:latin typeface="Times New Roman" panose="02020603050405020304" charset="0"/>
                <a:cs typeface="Times New Roman" panose="02020603050405020304" charset="0"/>
              </a:defRPr>
            </a:lvl1pPr>
          </a:lstStyle>
          <a:p>
            <a:r>
              <a:rPr lang="en-US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ĐHCT GIAI ĐOẠN SAU NĂM 1975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>
                <a:solidFill>
                  <a:srgbClr val="FF0000"/>
                </a:solidFill>
              </a:rPr>
              <a:t>KHOA KHOA HỌC TỰ NHIÊN</a:t>
            </a:r>
            <a:endParaRPr lang="en-US">
              <a:solidFill>
                <a:srgbClr val="FF0000"/>
              </a:solidFill>
            </a:endParaRPr>
          </a:p>
          <a:p>
            <a:pPr lvl="1"/>
            <a:r>
              <a:rPr lang="en-US"/>
              <a:t>KHOA KHTN HIỆN NAY GỒM 04 BỘ MÔN</a:t>
            </a:r>
            <a:endParaRPr lang="en-US"/>
          </a:p>
          <a:p>
            <a:pPr lvl="2"/>
            <a:r>
              <a:rPr lang="en-US"/>
              <a:t>BỘ MÔN SINH HỌC</a:t>
            </a:r>
            <a:endParaRPr lang="en-US"/>
          </a:p>
          <a:p>
            <a:pPr lvl="2"/>
            <a:r>
              <a:rPr lang="en-US"/>
              <a:t>BỘ MÔN HOÁ HỌC</a:t>
            </a:r>
            <a:endParaRPr lang="en-US"/>
          </a:p>
          <a:p>
            <a:pPr lvl="2"/>
            <a:r>
              <a:rPr lang="en-US"/>
              <a:t>BỘ MÔN TOÁN HỌC</a:t>
            </a:r>
            <a:endParaRPr lang="en-US"/>
          </a:p>
          <a:p>
            <a:pPr lvl="2"/>
            <a:r>
              <a:rPr lang="en-US"/>
              <a:t>BỘ MÔN VẬT LÝ</a:t>
            </a: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0085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b="1">
                <a:latin typeface="Times New Roman" panose="02020603050405020304" charset="0"/>
                <a:cs typeface="Times New Roman" panose="02020603050405020304" charset="0"/>
              </a:defRPr>
            </a:lvl1pPr>
          </a:lstStyle>
          <a:p>
            <a:r>
              <a:rPr lang="en-US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ĐHCT GIAI ĐOẠN SAU NĂM 1975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>
                <a:solidFill>
                  <a:srgbClr val="FF0000"/>
                </a:solidFill>
              </a:rPr>
              <a:t>KHOA KHOA HỌC TỰ NHIÊN</a:t>
            </a:r>
            <a:endParaRPr lang="en-US">
              <a:solidFill>
                <a:srgbClr val="FF0000"/>
              </a:solidFill>
            </a:endParaRPr>
          </a:p>
          <a:p>
            <a:pPr lvl="1"/>
            <a:r>
              <a:rPr lang="en-US"/>
              <a:t>CÔNG TÁC ĐÀO TẠO</a:t>
            </a:r>
            <a:endParaRPr lang="en-US"/>
          </a:p>
          <a:p>
            <a:pPr lvl="2"/>
            <a:r>
              <a:rPr lang="en-US"/>
              <a:t>ĐẠI HỌC:......</a:t>
            </a:r>
            <a:endParaRPr lang="en-US"/>
          </a:p>
          <a:p>
            <a:pPr lvl="2"/>
            <a:r>
              <a:rPr lang="en-US"/>
              <a:t>SĐH:.......</a:t>
            </a:r>
            <a:endParaRPr lang="en-US"/>
          </a:p>
          <a:p>
            <a:pPr lvl="1"/>
            <a:r>
              <a:rPr lang="en-US"/>
              <a:t>CÔNG TÁC NCKH, BÁO CÁO CHUYÊN ĐỀ:....</a:t>
            </a:r>
            <a:endParaRPr lang="en-US"/>
          </a:p>
          <a:p>
            <a:pPr lvl="1"/>
            <a:r>
              <a:rPr lang="en-US"/>
              <a:t>CÔNG TÁC ĐÀO TẠO VÀ BỒI DƯỠNG CÁN BỘ:....</a:t>
            </a: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0085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b="1">
                <a:latin typeface="Times New Roman" panose="02020603050405020304" charset="0"/>
                <a:cs typeface="Times New Roman" panose="02020603050405020304" charset="0"/>
              </a:defRPr>
            </a:lvl1pPr>
          </a:lstStyle>
          <a:p>
            <a:r>
              <a:rPr lang="en-US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ĐHCT GIAI ĐOẠN SAU NĂM 1975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174750"/>
            <a:ext cx="11225530" cy="4953000"/>
          </a:xfrm>
        </p:spPr>
        <p:txBody>
          <a:bodyPr/>
          <a:p>
            <a:r>
              <a:rPr lang="en-US">
                <a:solidFill>
                  <a:schemeClr val="tx1"/>
                </a:solidFill>
                <a:hlinkClick r:id="rId1">
                  <a:extLst>
                    <a:ext uri="{DAF060AB-1E55-43B9-8AAB-6FB025537F2F}">
                      <wpsdc:hlinkClr xmlns:wpsdc="http://www.wps.cn/officeDocument/2017/drawingmlCustomData" val="85C2FF"/>
                      <wpsdc:folHlinkClr xmlns:wpsdc="http://www.wps.cn/officeDocument/2017/drawingmlCustomData" val="996600"/>
                      <wpsdc:hlinkUnderline xmlns:wpsdc="http://www.wps.cn/officeDocument/2017/drawingmlCustomData" val="1"/>
                    </a:ext>
                  </a:extLst>
                </a:hlinkClick>
              </a:rPr>
              <a:t>KHOA CNTT &amp; TT</a:t>
            </a:r>
            <a:endParaRPr lang="en-US">
              <a:solidFill>
                <a:schemeClr val="tx1"/>
              </a:solidFill>
              <a:hlinkClick r:id="rId1">
                <a:extLst>
                  <a:ext uri="{DAF060AB-1E55-43B9-8AAB-6FB025537F2F}">
                    <wpsdc:hlinkClr xmlns:wpsdc="http://www.wps.cn/officeDocument/2017/drawingmlCustomData" val="85C2FF"/>
                    <wpsdc:folHlinkClr xmlns:wpsdc="http://www.wps.cn/officeDocument/2017/drawingmlCustomData" val="996600"/>
                    <wpsdc:hlinkUnderline xmlns:wpsdc="http://www.wps.cn/officeDocument/2017/drawingmlCustomData" val="1"/>
                  </a:ext>
                </a:extLst>
              </a:hlinkClick>
            </a:endParaRPr>
          </a:p>
          <a:p>
            <a:pPr lvl="1"/>
            <a:r>
              <a:rPr lang="en-US"/>
              <a:t>ĐƯỢC THÀNH LẬP NĂM 1994 TRÊN CƠ SỞ TRUNG TÂM ĐIỆN TỬ VÀ TIN HỌC</a:t>
            </a:r>
            <a:endParaRPr lang="en-US"/>
          </a:p>
          <a:p>
            <a:pPr lvl="1"/>
            <a:r>
              <a:rPr lang="en-US"/>
              <a:t>NHIỆM VỤ CỦA KHOA LÀ ĐÀO TẠO</a:t>
            </a:r>
            <a:endParaRPr lang="en-US"/>
          </a:p>
          <a:p>
            <a:pPr lvl="2"/>
            <a:r>
              <a:rPr lang="en-US"/>
              <a:t>ĐẠI HỌC VÀ SAU ĐẠI HỌC</a:t>
            </a:r>
            <a:endParaRPr lang="en-US"/>
          </a:p>
          <a:p>
            <a:pPr lvl="2"/>
            <a:r>
              <a:rPr lang="en-US"/>
              <a:t>NCKH VÀ CHUYỂN GIAO CÔNG NGHỆ TRONG LĨNH VỰC CNTT&amp;TT</a:t>
            </a: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0085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b="1">
                <a:latin typeface="Times New Roman" panose="02020603050405020304" charset="0"/>
                <a:cs typeface="Times New Roman" panose="02020603050405020304" charset="0"/>
              </a:defRPr>
            </a:lvl1pPr>
          </a:lstStyle>
          <a:p>
            <a:r>
              <a:rPr lang="en-US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dirty="0" err="1">
                <a:sym typeface="+mn-ea"/>
              </a:rPr>
              <a:t>ĐHCT GIAI ĐOẠN SAU NĂM</a:t>
            </a:r>
            <a:r>
              <a:rPr lang="en-US" dirty="0">
                <a:sym typeface="+mn-ea"/>
              </a:rPr>
              <a:t> 1975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KHOA CNTT&amp;TT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r>
              <a:rPr lang="en-US" dirty="0">
                <a:sym typeface="+mn-ea"/>
              </a:rPr>
              <a:t>TẦM NHÌN ĐẾN 2020 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 ĐƠN VỊ ĐÀO TẠO VÀ 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 NGHIÊN CỨU KHOA HỌC VỀ CNTT&amp;TT MẠNH CỦA CẢ NƯỚC</a:t>
            </a:r>
            <a:endParaRPr lang="en-US" dirty="0"/>
          </a:p>
          <a:p>
            <a:pPr lvl="2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0085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b="1">
                <a:latin typeface="Times New Roman" panose="02020603050405020304" charset="0"/>
                <a:cs typeface="Times New Roman" panose="02020603050405020304" charset="0"/>
              </a:defRPr>
            </a:lvl1pPr>
          </a:lstStyle>
          <a:p>
            <a:r>
              <a:rPr lang="en-US"/>
              <a:t>GIỚI THIỆU ĐẠI HỌC CẦN THƠ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ĐHCT GIAI ĐOẠN SAU NĂM 1975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KHOA CNTT &amp; TT</a:t>
            </a:r>
            <a:endParaRPr lang="en-US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r>
              <a:rPr lang="en-US"/>
              <a:t>CÁC BỘ MÔN VÀ TRUNG TÂM</a:t>
            </a:r>
            <a:endParaRPr lang="en-US"/>
          </a:p>
          <a:p>
            <a:pPr lvl="2"/>
            <a:r>
              <a:rPr lang="en-US"/>
              <a:t>BỘ MÔN HỆ THỐNG THÔNG TIN</a:t>
            </a:r>
            <a:endParaRPr lang="en-US"/>
          </a:p>
          <a:p>
            <a:pPr lvl="2"/>
            <a:r>
              <a:rPr lang="en-US"/>
              <a:t>BỘ MÔN MẠNG MÁY TÍNH &amp; TRUYỀN THÔNG</a:t>
            </a:r>
            <a:endParaRPr lang="en-US"/>
          </a:p>
          <a:p>
            <a:pPr lvl="2"/>
            <a:r>
              <a:rPr lang="en-US"/>
              <a:t>BỘ MÔN CÔNG NGHỆ PHẦN MỀM</a:t>
            </a:r>
            <a:endParaRPr lang="en-US"/>
          </a:p>
          <a:p>
            <a:pPr lvl="2"/>
            <a:r>
              <a:rPr lang="en-US"/>
              <a:t>BỘ MÔN KHOA HỌC MÁY TÍNH</a:t>
            </a: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0085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b="1">
                <a:latin typeface="Times New Roman" panose="02020603050405020304" charset="0"/>
                <a:cs typeface="Times New Roman" panose="02020603050405020304" charset="0"/>
              </a:defRPr>
            </a:lvl1pPr>
          </a:lstStyle>
          <a:p>
            <a:r>
              <a:rPr lang="en-US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ĐHCT GIAI ĐOẠN SAU NĂM 1975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KHOA CNTT &amp; TT</a:t>
            </a:r>
            <a:endParaRPr lang="en-US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r>
              <a:rPr lang="en-US"/>
              <a:t>CÁC BỘ MÔN VÀ TRUNG TÂM</a:t>
            </a:r>
            <a:endParaRPr lang="en-US"/>
          </a:p>
          <a:p>
            <a:pPr lvl="2"/>
            <a:r>
              <a:rPr lang="en-US"/>
              <a:t>BỘ MÔN CÔNG NGHỆ THÔNG TIN</a:t>
            </a:r>
            <a:endParaRPr lang="en-US"/>
          </a:p>
          <a:p>
            <a:pPr lvl="2"/>
            <a:r>
              <a:rPr lang="en-US"/>
              <a:t>BỘ MÔN TIN HỌC ỨNG DỤNG</a:t>
            </a:r>
            <a:endParaRPr lang="en-US"/>
          </a:p>
          <a:p>
            <a:pPr lvl="2"/>
            <a:r>
              <a:rPr lang="en-US"/>
              <a:t>TỔ VĂN PHÒNG</a:t>
            </a:r>
            <a:endParaRPr lang="en-US"/>
          </a:p>
          <a:p>
            <a:pPr lvl="2"/>
            <a:r>
              <a:rPr lang="en-US"/>
              <a:t>TRUNG TÂM ĐIỆN TỬ &amp; TIN HỌC</a:t>
            </a: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0085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b="1">
                <a:latin typeface="Times New Roman" panose="02020603050405020304" charset="0"/>
                <a:cs typeface="Times New Roman" panose="02020603050405020304" charset="0"/>
              </a:defRPr>
            </a:lvl1pPr>
          </a:lstStyle>
          <a:p>
            <a:r>
              <a:rPr lang="en-US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 noChangeArrowheads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p>
            <a:r>
              <a:rPr lang="en-US"/>
              <a:t>CẢM ƠN SỰ CHÚ Ý CỦA QUÝ VỊ</a:t>
            </a: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0085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b="1">
                <a:latin typeface="Times New Roman" panose="02020603050405020304" charset="0"/>
                <a:cs typeface="Times New Roman" panose="02020603050405020304" charset="0"/>
              </a:defRPr>
            </a:lvl1pPr>
          </a:lstStyle>
          <a:p>
            <a:r>
              <a:rPr lang="en-US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2437</Words>
  <Application>WPS Presentation</Application>
  <PresentationFormat>Widescreen</PresentationFormat>
  <Paragraphs>162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Times New Roman</vt:lpstr>
      <vt:lpstr>Wingdings</vt:lpstr>
      <vt:lpstr>Blue Waves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Huynh Huong B2509731</cp:lastModifiedBy>
  <cp:revision>3</cp:revision>
  <dcterms:created xsi:type="dcterms:W3CDTF">2025-07-23T00:59:00Z</dcterms:created>
  <dcterms:modified xsi:type="dcterms:W3CDTF">2026-02-04T08:54:32Z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0388C0DD73E64E68AECD132788BEB468_11</vt:lpwstr>
  </property>
  <property fmtid="{D5CDD505-2E9C-101B-9397-08002B2CF9AE}" pid="3" name="KSOProductBuildVer">
    <vt:lpwstr>1033-12.2.0.23196</vt:lpwstr>
  </property>
</Properties>
</file>